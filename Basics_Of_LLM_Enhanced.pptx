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20240"/>
            <a:ext cx="22860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57400"/>
            <a:ext cx="109728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Transformers to Agents — a complete foundation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508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4206240"/>
            <a:ext cx="1508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4206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4206240"/>
            <a:ext cx="1508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4206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9824" y="4206240"/>
            <a:ext cx="1508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4206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14032" y="4206240"/>
            <a:ext cx="1508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4206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7315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A17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 of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Turing's question to ChatGPT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25880"/>
            <a:ext cx="2651760" cy="1325880"/>
          </a:xfrm>
          <a:prstGeom prst="rect">
            <a:avLst/>
          </a:prstGeom>
          <a:solidFill>
            <a:srgbClr val="1A17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2651760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172821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&amp; Enigma — "Can machines think?" AI is born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1325880"/>
            <a:ext cx="2651760" cy="1325880"/>
          </a:xfrm>
          <a:prstGeom prst="rect">
            <a:avLst/>
          </a:prstGeom>
          <a:solidFill>
            <a:srgbClr val="1A17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325880"/>
            <a:ext cx="2651760" cy="502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3419856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19856" y="172821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chatbots answer pre-programmed questions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1325880"/>
            <a:ext cx="2651760" cy="1325880"/>
          </a:xfrm>
          <a:prstGeom prst="rect">
            <a:avLst/>
          </a:prstGeom>
          <a:solidFill>
            <a:srgbClr val="1A17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325880"/>
            <a:ext cx="265176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1980–90s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4224" y="172821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&amp; neural networks revive interest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51760" cy="1325880"/>
          </a:xfrm>
          <a:prstGeom prst="rect">
            <a:avLst/>
          </a:prstGeom>
          <a:solidFill>
            <a:srgbClr val="1A17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0360"/>
            <a:ext cx="2651760" cy="502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" y="328269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ML, SVMs, early deep learning emerge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10128" y="2880360"/>
            <a:ext cx="2651760" cy="1325880"/>
          </a:xfrm>
          <a:prstGeom prst="rect">
            <a:avLst/>
          </a:prstGeom>
          <a:solidFill>
            <a:srgbClr val="1A17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2880360"/>
            <a:ext cx="265176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419856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19856" y="328269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"Attention Is All You Need" — Transformers born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54496" y="2880360"/>
            <a:ext cx="2651760" cy="1325880"/>
          </a:xfrm>
          <a:prstGeom prst="rect">
            <a:avLst/>
          </a:prstGeom>
          <a:solidFill>
            <a:srgbClr val="1A17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54496" y="2880360"/>
            <a:ext cx="265176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364224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64224" y="328269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 series, ChatGPT — LLMs enter mainstream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AI, ML, Deep Learning &amp; LLMs relate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7315200" cy="3383280"/>
          </a:xfrm>
          <a:prstGeom prst="ellipse">
            <a:avLst/>
          </a:prstGeom>
          <a:solidFill>
            <a:srgbClr val="064E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600200"/>
            <a:ext cx="5669280" cy="2743200"/>
          </a:xfrm>
          <a:prstGeom prst="ellipse">
            <a:avLst/>
          </a:prstGeom>
          <a:solidFill>
            <a:srgbClr val="065F46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920240"/>
            <a:ext cx="3931920" cy="2103120"/>
          </a:xfrm>
          <a:prstGeom prst="ellipse">
            <a:avLst/>
          </a:prstGeom>
          <a:solidFill>
            <a:srgbClr val="04785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286000"/>
            <a:ext cx="2103120" cy="1325880"/>
          </a:xfrm>
          <a:prstGeom prst="ellipse">
            <a:avLst/>
          </a:prstGeom>
          <a:solidFill>
            <a:srgbClr val="059669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3990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6916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technique enabling intelligent behaviour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47088" y="167335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47088" y="196596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from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15768" y="1993392"/>
            <a:ext cx="3342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5768" y="2286000"/>
            <a:ext cx="3342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359152"/>
            <a:ext cx="17876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Machine Learning to Deep NLP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modern language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298448"/>
            <a:ext cx="2697480" cy="3474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98448"/>
            <a:ext cx="269748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1298448"/>
            <a:ext cx="2697480" cy="5943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3441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" y="2084832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" y="2752344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79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" y="3419856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46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patterns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" y="4087368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142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Classifications, regressions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73552" y="1298448"/>
            <a:ext cx="2697480" cy="3474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73552" y="1298448"/>
            <a:ext cx="2697480" cy="502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1298448"/>
            <a:ext cx="2697480" cy="5943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13441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38144" y="2084832"/>
            <a:ext cx="137160" cy="1371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networks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38144" y="2752344"/>
            <a:ext cx="137160" cy="1371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679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38144" y="3419856"/>
            <a:ext cx="137160" cy="1371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346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38144" y="4087368"/>
            <a:ext cx="137160" cy="1371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0142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9632" y="1298448"/>
            <a:ext cx="2697480" cy="3474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1298448"/>
            <a:ext cx="269748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1298448"/>
            <a:ext cx="2697480" cy="5943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13441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NLP Evolution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64224" y="2084832"/>
            <a:ext cx="137160" cy="1371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grammar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64224" y="2752344"/>
            <a:ext cx="137160" cy="1371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2679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64224" y="3419856"/>
            <a:ext cx="137160" cy="1371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3346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embeddings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64224" y="4087368"/>
            <a:ext cx="137160" cy="1371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0142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models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72384" y="2834640"/>
            <a:ext cx="201168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Shape 42"/>
          <p:cNvSpPr/>
          <p:nvPr/>
        </p:nvSpPr>
        <p:spPr>
          <a:xfrm>
            <a:off x="3182112" y="2743200"/>
            <a:ext cx="91440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Shape 43"/>
          <p:cNvSpPr/>
          <p:nvPr/>
        </p:nvSpPr>
        <p:spPr>
          <a:xfrm>
            <a:off x="5998464" y="2834640"/>
            <a:ext cx="201168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6108192" y="2743200"/>
            <a:ext cx="91440" cy="237744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2D2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NLP: From RNN to LLMs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sequential understanding evolved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325880"/>
            <a:ext cx="2651760" cy="3383280"/>
          </a:xfrm>
          <a:prstGeom prst="rect">
            <a:avLst/>
          </a:prstGeom>
          <a:solidFill>
            <a:srgbClr val="2D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25880"/>
            <a:ext cx="265176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3272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2432304" cy="32004"/>
          </a:xfrm>
          <a:prstGeom prst="rect">
            <a:avLst/>
          </a:prstGeom>
          <a:solidFill>
            <a:srgbClr val="2D2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2432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sequential data. Processes word-by-word. Cannot handle long-range dependencies — forgets early context.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1325880"/>
            <a:ext cx="2651760" cy="3383280"/>
          </a:xfrm>
          <a:prstGeom prst="rect">
            <a:avLst/>
          </a:prstGeom>
          <a:solidFill>
            <a:srgbClr val="2D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325880"/>
            <a:ext cx="265176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146304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9352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59352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2103120"/>
            <a:ext cx="2432304" cy="32004"/>
          </a:xfrm>
          <a:prstGeom prst="rect">
            <a:avLst/>
          </a:prstGeom>
          <a:solidFill>
            <a:srgbClr val="2D2A6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194560"/>
            <a:ext cx="2432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RNN with memory gates — forget, input, output. Better at remembering long sequences but still slow.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1325880"/>
            <a:ext cx="2651760" cy="3383280"/>
          </a:xfrm>
          <a:prstGeom prst="rect">
            <a:avLst/>
          </a:prstGeom>
          <a:solidFill>
            <a:srgbClr val="2D2A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9632" y="1325880"/>
            <a:ext cx="2651760" cy="502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463040"/>
            <a:ext cx="475488" cy="47548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5432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85432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103120"/>
            <a:ext cx="2432304" cy="32004"/>
          </a:xfrm>
          <a:prstGeom prst="rect">
            <a:avLst/>
          </a:prstGeom>
          <a:solidFill>
            <a:srgbClr val="2D2A6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194560"/>
            <a:ext cx="2432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all tokens simultaneously. Full context window. State-of-the-art on every NLP task.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Mechanism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Transformers so powerful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4173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70432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is currently trying to figure out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594360" cy="5943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70432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broadcasts what information it holds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594360" cy="5943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0432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content to pull in — weighted by attention scores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234440"/>
            <a:ext cx="3886200" cy="34930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234440"/>
            <a:ext cx="3886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16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1664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that was chased by the dog climbed the tree."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climbed?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attention: cat, climbed, tree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attention: was, by, the, that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46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Model correctly understands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 climbed tree" despite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2D1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confidently say wrong things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325880"/>
            <a:ext cx="8321040" cy="502920"/>
          </a:xfrm>
          <a:prstGeom prst="rect">
            <a:avLst/>
          </a:prstGeom>
          <a:solidFill>
            <a:srgbClr val="2D10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 LLM predicts the most probable next token — NOT the most accurate one. Fluency ≠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2606040" cy="1993392"/>
          </a:xfrm>
          <a:prstGeom prst="rect">
            <a:avLst/>
          </a:prstGeom>
          <a:solidFill>
            <a:srgbClr val="2D1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93392"/>
            <a:ext cx="2606040" cy="502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665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Pattern Predictor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" y="251460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fluency, not accuracy. Generates plausible-sounding text even when wrong.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1993392"/>
            <a:ext cx="2606040" cy="1993392"/>
          </a:xfrm>
          <a:prstGeom prst="rect">
            <a:avLst/>
          </a:prstGeom>
          <a:solidFill>
            <a:srgbClr val="2D1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993392"/>
            <a:ext cx="260604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20665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 Training Data Gaps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51460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never saw a fact, it invents a plausible-sounding answer rather than admitting ignorance.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1993392"/>
            <a:ext cx="2606040" cy="1993392"/>
          </a:xfrm>
          <a:prstGeom prst="rect">
            <a:avLst/>
          </a:prstGeom>
          <a:solidFill>
            <a:srgbClr val="2D10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993392"/>
            <a:ext cx="2606040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206654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Vague Prompts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251460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questions leave too much room for the model to fill gaps with creative guesses.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0A2A0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HOW TO REDUCE IT: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605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to ground answers in real documents  •  Write specific prompts  •  Always verify critical outputs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3B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LLMs in real, up-to-date knowledge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828800"/>
            <a:ext cx="1261872" cy="1005840"/>
          </a:xfrm>
          <a:prstGeom prst="rect">
            <a:avLst/>
          </a:prstGeom>
          <a:solidFill>
            <a:srgbClr val="0D3B3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288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00784" y="2267712"/>
            <a:ext cx="14630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1783080" y="2176272"/>
            <a:ext cx="91440" cy="2377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1828800"/>
            <a:ext cx="1261872" cy="1005840"/>
          </a:xfrm>
          <a:prstGeom prst="rect">
            <a:avLst/>
          </a:prstGeom>
          <a:solidFill>
            <a:srgbClr val="0D3B37"/>
          </a:solidFill>
          <a:ln w="1905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8288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63824" y="2267712"/>
            <a:ext cx="14630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176272"/>
            <a:ext cx="91440" cy="2377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828800"/>
            <a:ext cx="1261872" cy="1005840"/>
          </a:xfrm>
          <a:prstGeom prst="rect">
            <a:avLst/>
          </a:prstGeom>
          <a:solidFill>
            <a:srgbClr val="0D3B37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8288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26864" y="2267712"/>
            <a:ext cx="14630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176272"/>
            <a:ext cx="91440" cy="2377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1828800"/>
            <a:ext cx="1261872" cy="1005840"/>
          </a:xfrm>
          <a:prstGeom prst="rect">
            <a:avLst/>
          </a:prstGeom>
          <a:solidFill>
            <a:srgbClr val="0D3B37"/>
          </a:solidFill>
          <a:ln w="1905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8288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9904" y="2267712"/>
            <a:ext cx="14630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2176272"/>
            <a:ext cx="91440" cy="2377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1828800"/>
            <a:ext cx="1261872" cy="1005840"/>
          </a:xfrm>
          <a:prstGeom prst="rect">
            <a:avLst/>
          </a:prstGeom>
          <a:solidFill>
            <a:srgbClr val="0D3B3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8288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52944" y="2267712"/>
            <a:ext cx="14630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2176272"/>
            <a:ext cx="91440" cy="2377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7726680" y="1828800"/>
            <a:ext cx="1261872" cy="1005840"/>
          </a:xfrm>
          <a:prstGeom prst="rect">
            <a:avLst/>
          </a:prstGeom>
          <a:solidFill>
            <a:srgbClr val="0D3B3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26680" y="18288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127248"/>
            <a:ext cx="3977640" cy="50292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9496" y="3127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No retraining needed — update docs, not weights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767328"/>
            <a:ext cx="3977640" cy="50292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" y="3767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Traceable answers — cite the source document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127248"/>
            <a:ext cx="3977640" cy="50292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91456" y="3127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Private data stays private — inject at runtime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767328"/>
            <a:ext cx="3977640" cy="50292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91456" y="3767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Always fresh — query latest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3B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Python Implementation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RAG pipeline with LangChain &amp; FAISS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61872"/>
            <a:ext cx="5029200" cy="3657600"/>
          </a:xfrm>
          <a:prstGeom prst="rect">
            <a:avLst/>
          </a:prstGeom>
          <a:solidFill>
            <a:srgbClr val="011B1A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029200" cy="274320"/>
          </a:xfrm>
          <a:prstGeom prst="rect">
            <a:avLst/>
          </a:prstGeom>
          <a:solidFill>
            <a:srgbClr val="02333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3350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335024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335024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271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rag_pipeline.py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627632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langchain.embeddings 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OpenAIEmbeddings
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langchain.vectorstores 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FAISS
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langchain.llms 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
</a:t>
            </a:r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1️⃣  Load &amp; chunk your documents
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load_and_split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"knowledge_base/"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2️⃣  Embed &amp; store in vector DB
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OpenAIEmbeddings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from_documents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3️⃣  RAG query function
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rag_query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(query: </a:t>
            </a:r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docs_found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similarity_search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k=</a:t>
            </a:r>
            <a:pPr indent="0" marL="0">
              <a:buNone/>
            </a:pPr>
            <a:r>
              <a:rPr lang="en-US" sz="9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".join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page_content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docs_found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9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using context:\n\n{context}\n\nQ: {query}"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504688" y="1325880"/>
            <a:ext cx="3273552" cy="86868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04688" y="1325880"/>
            <a:ext cx="45720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3560" y="14173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16752" y="1399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Queries &amp;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high-dimensional vectors. Similar meaning → similar vectors in space.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04688" y="2331720"/>
            <a:ext cx="3273552" cy="86868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4688" y="2331720"/>
            <a:ext cx="45720" cy="8686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2" name="Shape 20"/>
          <p:cNvSpPr/>
          <p:nvPr/>
        </p:nvSpPr>
        <p:spPr>
          <a:xfrm>
            <a:off x="5623560" y="2423160"/>
            <a:ext cx="292608" cy="29260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16752" y="24048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(FAISS)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16752" y="2679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Blazing-fast similarity search. Returns top-k most relevant document chunks.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04688" y="3337560"/>
            <a:ext cx="3273552" cy="868680"/>
          </a:xfrm>
          <a:prstGeom prst="rect">
            <a:avLst/>
          </a:prstGeom>
          <a:solidFill>
            <a:srgbClr val="0D3B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3337560"/>
            <a:ext cx="45720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3429000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16752" y="34107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16752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are injected into the LLM prompt so answers are grounded, not hallucinated.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04688" y="4389120"/>
            <a:ext cx="3273552" cy="640080"/>
          </a:xfrm>
          <a:prstGeom prst="rect">
            <a:avLst/>
          </a:prstGeom>
          <a:solidFill>
            <a:srgbClr val="011B1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440740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RAG over fine-tuning when you need fresh, private, or frequently updated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Prompting — Part 1 of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impactful techniques for getting great outputs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298448"/>
            <a:ext cx="8458200" cy="274320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BE SPECIFIC — Eliminate Ambiguity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4023360" cy="960120"/>
          </a:xfrm>
          <a:prstGeom prst="rect">
            <a:avLst/>
          </a:prstGeom>
          <a:solidFill>
            <a:srgbClr val="1C0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Vague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function to process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609344"/>
            <a:ext cx="4050792" cy="960120"/>
          </a:xfrm>
          <a:prstGeom prst="rect">
            <a:avLst/>
          </a:prstGeom>
          <a:solidFill>
            <a:srgbClr val="0A00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6459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Specific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920240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Python 3.11 function that takes a list of dicts with keys 'id' (int) and 'price' (float), filters price &lt; 0, and returns sorted list descending.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724912"/>
            <a:ext cx="8458200" cy="274320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ASSIGN A ROLE / PERSONA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035808"/>
            <a:ext cx="4023360" cy="960120"/>
          </a:xfrm>
          <a:prstGeom prst="rect">
            <a:avLst/>
          </a:prstGeom>
          <a:solidFill>
            <a:srgbClr val="1C0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723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database indexing.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35808"/>
            <a:ext cx="4050792" cy="960120"/>
          </a:xfrm>
          <a:prstGeom prst="rect">
            <a:avLst/>
          </a:prstGeom>
          <a:solidFill>
            <a:srgbClr val="0A00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723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role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database engineer. Explain B-tree vs hash indexing to a backend dev who knows SQL but has never tuned query performance.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160520"/>
            <a:ext cx="8458200" cy="658368"/>
          </a:xfrm>
          <a:prstGeom prst="rect">
            <a:avLst/>
          </a:prstGeom>
          <a:solidFill>
            <a:srgbClr val="1A0533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970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72768" y="4197096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context you give about WHO you are and WHAT you need, the more the model can tailor its expertise level and tone to you.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Prompting — Part 2 of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constraints, and examples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298448"/>
            <a:ext cx="8458200" cy="274320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PROVIDE CONTEXT &amp; CONSTRAINTS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4023360" cy="960120"/>
          </a:xfrm>
          <a:prstGeom prst="rect">
            <a:avLst/>
          </a:prstGeom>
          <a:solidFill>
            <a:srgbClr val="1C0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is my API slow?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609344"/>
            <a:ext cx="4050792" cy="960120"/>
          </a:xfrm>
          <a:prstGeom prst="rect">
            <a:avLst/>
          </a:prstGeom>
          <a:solidFill>
            <a:srgbClr val="0A00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6459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context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920240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20 + Express hitting PostgreSQL 15. /users takes 2–4s for 500 rows. Index on users.email exists. Query plan shows seq scan on 'roles' join. What next?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724912"/>
            <a:ext cx="8458200" cy="274320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USE EXAMPLES — Few-Shot Prompting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035808"/>
            <a:ext cx="4023360" cy="960120"/>
          </a:xfrm>
          <a:prstGeom prst="rect">
            <a:avLst/>
          </a:prstGeom>
          <a:solidFill>
            <a:srgbClr val="1C0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723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commit messages for my changes.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35808"/>
            <a:ext cx="4050792" cy="960120"/>
          </a:xfrm>
          <a:prstGeom prst="rect">
            <a:avLst/>
          </a:prstGeom>
          <a:solidFill>
            <a:srgbClr val="0A00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723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example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feat(auth): add JWT refresh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write for: "added retry logic to payment service"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160520"/>
            <a:ext cx="8458200" cy="658368"/>
          </a:xfrm>
          <a:prstGeom prst="rect">
            <a:avLst/>
          </a:prstGeom>
          <a:solidFill>
            <a:srgbClr val="1A0533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78808"/>
            <a:ext cx="8211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One good example is worth 10 paragraphs of instruction. Show the model exactly what success looks like.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Prompting — Part 3 of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and iterative refinement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298448"/>
            <a:ext cx="8458200" cy="274320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CHAIN-OF-THOUGHT — Ask it to think step by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160520" cy="1115568"/>
          </a:xfrm>
          <a:prstGeom prst="rect">
            <a:avLst/>
          </a:prstGeom>
          <a:solidFill>
            <a:srgbClr val="1C0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1024 a prime number? Answer yes or no."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may just guess.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27632"/>
            <a:ext cx="4160520" cy="1115568"/>
          </a:xfrm>
          <a:prstGeom prst="rect">
            <a:avLst/>
          </a:prstGeom>
          <a:solidFill>
            <a:srgbClr val="0A00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CoT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1024 a prime number? Show your reasoning step by step."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2359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divides, finds factors, gives correct answer.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907792"/>
            <a:ext cx="8458200" cy="274320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ITERATE — Treat It as a Conversation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3273552"/>
            <a:ext cx="1920240" cy="896112"/>
          </a:xfrm>
          <a:prstGeom prst="rect">
            <a:avLst/>
          </a:prstGeom>
          <a:solidFill>
            <a:srgbClr val="2A0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273552"/>
            <a:ext cx="1920240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rate limiter in Node.js"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95144" y="3675888"/>
            <a:ext cx="155448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273552"/>
            <a:ext cx="1920240" cy="896112"/>
          </a:xfrm>
          <a:prstGeom prst="rect">
            <a:avLst/>
          </a:prstGeom>
          <a:solidFill>
            <a:srgbClr val="2A0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3273552"/>
            <a:ext cx="1920240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2542032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42032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it use sliding window instead of fixed"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98264" y="3675888"/>
            <a:ext cx="155448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53712" y="3273552"/>
            <a:ext cx="1920240" cy="896112"/>
          </a:xfrm>
          <a:prstGeom prst="rect">
            <a:avLst/>
          </a:prstGeom>
          <a:solidFill>
            <a:srgbClr val="2A0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53712" y="3273552"/>
            <a:ext cx="1920240" cy="502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45152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Redis as the backing store"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01384" y="3675888"/>
            <a:ext cx="155448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656832" y="3273552"/>
            <a:ext cx="1920240" cy="896112"/>
          </a:xfrm>
          <a:prstGeom prst="rect">
            <a:avLst/>
          </a:prstGeom>
          <a:solidFill>
            <a:srgbClr val="2A0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56832" y="3273552"/>
            <a:ext cx="1920240" cy="502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748272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48272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unit tests using Jest and mock ioredis"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315968"/>
            <a:ext cx="8458200" cy="475488"/>
          </a:xfrm>
          <a:prstGeom prst="rect">
            <a:avLst/>
          </a:prstGeom>
          <a:solidFill>
            <a:srgbClr val="1A0533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334256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builds on the last. You end up with production-ready, tested code — not a rough draft.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2D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Tools + Memory + Goal = Autonomous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98448"/>
            <a:ext cx="8412480" cy="475488"/>
          </a:xfrm>
          <a:prstGeom prst="rect">
            <a:avLst/>
          </a:prstGeom>
          <a:solidFill>
            <a:srgbClr val="2D1A0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984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pPr algn="ctr" indent="0" marL="0">
              <a:buNone/>
            </a:pPr>
            <a:r>
              <a:rPr lang="en-US" sz="17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pPr algn="ctr" indent="0" marL="0">
              <a:buNone/>
            </a:pPr>
            <a:r>
              <a:rPr lang="en-US" sz="17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pPr algn="ctr" indent="0" marL="0">
              <a:buNone/>
            </a:pPr>
            <a:r>
              <a:rPr lang="en-US" sz="17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pPr algn="ctr" indent="0" marL="0">
              <a:buNone/>
            </a:pPr>
            <a:r>
              <a:rPr lang="en-US" sz="17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874520" cy="1965960"/>
          </a:xfrm>
          <a:prstGeom prst="rect">
            <a:avLst/>
          </a:prstGeom>
          <a:solidFill>
            <a:srgbClr val="2D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38528"/>
            <a:ext cx="1874520" cy="502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user input,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output, env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68296" y="2852928"/>
            <a:ext cx="201168" cy="502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2761488"/>
            <a:ext cx="54864" cy="21945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1938528"/>
            <a:ext cx="1874520" cy="1965960"/>
          </a:xfrm>
          <a:prstGeom prst="rect">
            <a:avLst/>
          </a:prstGeom>
          <a:solidFill>
            <a:srgbClr val="2D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938528"/>
            <a:ext cx="1874520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0604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80720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next 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/ CoT / ToT)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17136" y="2852928"/>
            <a:ext cx="201168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761488"/>
            <a:ext cx="54864" cy="21945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938528"/>
            <a:ext cx="1874520" cy="1965960"/>
          </a:xfrm>
          <a:prstGeom prst="rect">
            <a:avLst/>
          </a:prstGeom>
          <a:solidFill>
            <a:srgbClr val="2D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938528"/>
            <a:ext cx="187452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80720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tool: search,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DB, API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65976" y="2852928"/>
            <a:ext cx="201168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9" name="Shape 27"/>
          <p:cNvSpPr/>
          <p:nvPr/>
        </p:nvSpPr>
        <p:spPr>
          <a:xfrm>
            <a:off x="6812280" y="2761488"/>
            <a:ext cx="54864" cy="2194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1938528"/>
            <a:ext cx="1874520" cy="1965960"/>
          </a:xfrm>
          <a:prstGeom prst="rect">
            <a:avLst/>
          </a:prstGeom>
          <a:solidFill>
            <a:srgbClr val="2D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1938528"/>
            <a:ext cx="187452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2487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280720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fed back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context. Loop!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050792"/>
            <a:ext cx="8412480" cy="731520"/>
          </a:xfrm>
          <a:prstGeom prst="rect">
            <a:avLst/>
          </a:prstGeom>
          <a:solidFill>
            <a:srgbClr val="2D1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4087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 Examples: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4087368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  •  LangChain Agents  •  OpenAI Assistants  •  Claude Projects  •  GitHub Copilot Workspace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02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knows what you put in its window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389888"/>
            <a:ext cx="4069080" cy="1298448"/>
          </a:xfrm>
          <a:prstGeom prst="rect">
            <a:avLst/>
          </a:prstGeom>
          <a:solidFill>
            <a:srgbClr val="0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89888"/>
            <a:ext cx="4069080" cy="502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4813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88366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persona, rules. Sets the model's behavior globally for the entire session.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27448" y="1389888"/>
            <a:ext cx="4069080" cy="1298448"/>
          </a:xfrm>
          <a:prstGeom prst="rect">
            <a:avLst/>
          </a:prstGeom>
          <a:solidFill>
            <a:srgbClr val="0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389888"/>
            <a:ext cx="4069080" cy="50292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14813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Conversation History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55464" y="188366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turns give the model memory. Without this, every message is a fresh start.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898648"/>
            <a:ext cx="4069080" cy="1298448"/>
          </a:xfrm>
          <a:prstGeom prst="rect">
            <a:avLst/>
          </a:prstGeom>
          <a:solidFill>
            <a:srgbClr val="0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898648"/>
            <a:ext cx="4069080" cy="50292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99008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Retrieved Knowledge (RAG)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" y="339242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injected at runtime so the model answers from fresh, accurate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7448" y="2898648"/>
            <a:ext cx="4069080" cy="1298448"/>
          </a:xfrm>
          <a:prstGeom prst="rect">
            <a:avLst/>
          </a:prstGeom>
          <a:solidFill>
            <a:srgbClr val="0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2898648"/>
            <a:ext cx="406908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299008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55464" y="339242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from APIs, databases, or code execution fed back into context for chaining.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4462272"/>
            <a:ext cx="8394192" cy="475488"/>
          </a:xfrm>
          <a:prstGeom prst="rect">
            <a:avLst/>
          </a:prstGeom>
          <a:solidFill>
            <a:srgbClr val="0014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4805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Rule: Quality of output = Quality of context. Engineer it deliberately.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RAG — Making LLMs Domain-Specific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 for your use case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325880"/>
            <a:ext cx="1993392" cy="3218688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25880"/>
            <a:ext cx="1993392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38988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2157984"/>
            <a:ext cx="1847088" cy="3200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" y="2258568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0370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billions of tokens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75488" y="2734056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791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books, code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" y="3209544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expensive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75488" y="368503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0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by AI labs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20624" y="4187952"/>
            <a:ext cx="1847088" cy="256032"/>
          </a:xfrm>
          <a:prstGeom prst="rect">
            <a:avLst/>
          </a:prstGeom>
          <a:solidFill>
            <a:srgbClr val="011A1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1879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concern — already done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23744" y="1325880"/>
            <a:ext cx="1993392" cy="3218688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23744" y="1325880"/>
            <a:ext cx="1993392" cy="50292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4" name="Text 22"/>
          <p:cNvSpPr/>
          <p:nvPr/>
        </p:nvSpPr>
        <p:spPr>
          <a:xfrm>
            <a:off x="2523744" y="138988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96896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96896" y="2157984"/>
            <a:ext cx="1847088" cy="3200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7" name="Shape 25"/>
          <p:cNvSpPr/>
          <p:nvPr/>
        </p:nvSpPr>
        <p:spPr>
          <a:xfrm>
            <a:off x="2651760" y="2258568"/>
            <a:ext cx="100584" cy="100584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28" name="Text 26"/>
          <p:cNvSpPr/>
          <p:nvPr/>
        </p:nvSpPr>
        <p:spPr>
          <a:xfrm>
            <a:off x="2816352" y="220370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Re-trains on domain data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2651760" y="2734056"/>
            <a:ext cx="100584" cy="100584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30" name="Text 28"/>
          <p:cNvSpPr/>
          <p:nvPr/>
        </p:nvSpPr>
        <p:spPr>
          <a:xfrm>
            <a:off x="2816352" y="26791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code tasks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2651760" y="3209544"/>
            <a:ext cx="100584" cy="100584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32" name="Text 30"/>
          <p:cNvSpPr/>
          <p:nvPr/>
        </p:nvSpPr>
        <p:spPr>
          <a:xfrm>
            <a:off x="2816352" y="31546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model weights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2651760" y="3685032"/>
            <a:ext cx="100584" cy="100584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2816352" y="3630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cost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2596896" y="4187952"/>
            <a:ext cx="1847088" cy="256032"/>
          </a:xfrm>
          <a:prstGeom prst="rect">
            <a:avLst/>
          </a:prstGeom>
          <a:solidFill>
            <a:srgbClr val="011A1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96896" y="41879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style/behavior/tone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0016" y="1325880"/>
            <a:ext cx="1993392" cy="3218688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0016" y="1325880"/>
            <a:ext cx="1993392" cy="502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4700016" y="138988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73168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73168" y="2157984"/>
            <a:ext cx="1847088" cy="3200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2" name="Shape 40"/>
          <p:cNvSpPr/>
          <p:nvPr/>
        </p:nvSpPr>
        <p:spPr>
          <a:xfrm>
            <a:off x="4828032" y="225856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/>
          <p:nvPr/>
        </p:nvSpPr>
        <p:spPr>
          <a:xfrm>
            <a:off x="4992624" y="220370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raters score outputs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4828032" y="273405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4992624" y="26791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preferences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4828032" y="320954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4992624" y="31546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helpfulness/safety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4828032" y="3685032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9" name="Text 47"/>
          <p:cNvSpPr/>
          <p:nvPr/>
        </p:nvSpPr>
        <p:spPr>
          <a:xfrm>
            <a:off x="4992624" y="3630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ChatGPT, Claude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4773168" y="4187952"/>
            <a:ext cx="1847088" cy="256032"/>
          </a:xfrm>
          <a:prstGeom prst="rect">
            <a:avLst/>
          </a:prstGeom>
          <a:solidFill>
            <a:srgbClr val="011A1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1879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alignment focus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76288" y="1325880"/>
            <a:ext cx="1993392" cy="3218688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76288" y="1325880"/>
            <a:ext cx="1993392" cy="502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4" name="Text 52"/>
          <p:cNvSpPr/>
          <p:nvPr/>
        </p:nvSpPr>
        <p:spPr>
          <a:xfrm>
            <a:off x="6876288" y="138988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949440" y="1828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949440" y="2157984"/>
            <a:ext cx="1847088" cy="3200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7" name="Shape 55"/>
          <p:cNvSpPr/>
          <p:nvPr/>
        </p:nvSpPr>
        <p:spPr>
          <a:xfrm>
            <a:off x="7004304" y="2258568"/>
            <a:ext cx="100584" cy="10058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8" name="Text 56"/>
          <p:cNvSpPr/>
          <p:nvPr/>
        </p:nvSpPr>
        <p:spPr>
          <a:xfrm>
            <a:off x="7168896" y="220370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docs at runtime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7004304" y="2734056"/>
            <a:ext cx="100584" cy="10058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0" name="Text 58"/>
          <p:cNvSpPr/>
          <p:nvPr/>
        </p:nvSpPr>
        <p:spPr>
          <a:xfrm>
            <a:off x="7168896" y="26791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 changes needed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7004304" y="3209544"/>
            <a:ext cx="100584" cy="10058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2" name="Text 60"/>
          <p:cNvSpPr/>
          <p:nvPr/>
        </p:nvSpPr>
        <p:spPr>
          <a:xfrm>
            <a:off x="7168896" y="31546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fresh &amp; traceable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7004304" y="3685032"/>
            <a:ext cx="100584" cy="10058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4" name="Text 62"/>
          <p:cNvSpPr/>
          <p:nvPr/>
        </p:nvSpPr>
        <p:spPr>
          <a:xfrm>
            <a:off x="7168896" y="363016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easy update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6949440" y="4187952"/>
            <a:ext cx="1847088" cy="256032"/>
          </a:xfrm>
          <a:prstGeom prst="rect">
            <a:avLst/>
          </a:prstGeom>
          <a:solidFill>
            <a:srgbClr val="011A1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9440" y="41879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up-to-date/private data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walk away with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389888"/>
            <a:ext cx="2606040" cy="144475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89888"/>
            <a:ext cx="2606040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" y="1527048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0704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Predict, Not Know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0482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 likely next tokens — not facts. Always verify critical outputs.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36976" y="1389888"/>
            <a:ext cx="2606040" cy="144475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389888"/>
            <a:ext cx="260604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64992" y="152704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13632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=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0482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enables full context understanding across long sequences.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9904" y="1389888"/>
            <a:ext cx="2606040" cy="144475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389888"/>
            <a:ext cx="260604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527048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Are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0482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≠ correct. Fluent output can still be completely fabricated.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72768" y="3090672"/>
            <a:ext cx="2606040" cy="144475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72768" y="3090672"/>
            <a:ext cx="2606040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700784" y="3227832"/>
            <a:ext cx="438912" cy="438912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8" name="Text 26"/>
          <p:cNvSpPr/>
          <p:nvPr/>
        </p:nvSpPr>
        <p:spPr>
          <a:xfrm>
            <a:off x="1700784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49424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a Skill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00784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+ role + examples + CoT = dramatically better outputs.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25696" y="3090672"/>
            <a:ext cx="2606040" cy="144475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25696" y="3090672"/>
            <a:ext cx="260604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3227832"/>
            <a:ext cx="438912" cy="43891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02352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the Future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53712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+ tools + memory = autonomous systems tackling real-world tasks.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669280" cy="566928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48840"/>
            <a:ext cx="2743200" cy="5029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04288"/>
            <a:ext cx="1371600" cy="5029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Experiments? Go build something.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3035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186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😄  I take no responsibility for hallucinations during Q&amp;A.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Large Language Models</dc:title>
  <dc:subject>PptxGenJS Presentation</dc:subject>
  <dc:creator>PptxGenJS</dc:creator>
  <cp:lastModifiedBy>PptxGenJS</cp:lastModifiedBy>
  <cp:revision>1</cp:revision>
  <dcterms:created xsi:type="dcterms:W3CDTF">2026-03-11T12:30:59Z</dcterms:created>
  <dcterms:modified xsi:type="dcterms:W3CDTF">2026-03-11T12:30:59Z</dcterms:modified>
</cp:coreProperties>
</file>